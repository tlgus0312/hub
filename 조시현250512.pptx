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fe24 Ohsquare air"/>
      <p:regular r:id="rId19"/>
    </p:embeddedFont>
    <p:embeddedFont>
      <p:font typeface="210 GGotmangul Regular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38300" y="2730500"/>
            <a:ext cx="150622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000" b="false" i="false" u="none" strike="noStrike" spc="-700">
                <a:solidFill>
                  <a:srgbClr val="787878"/>
                </a:solidFill>
                <a:ea typeface="S-Core Dream 8 Heavy"/>
              </a:rPr>
              <a:t>애플민트와</a:t>
            </a:r>
            <a:r>
              <a:rPr lang="en-US" sz="9000" b="false" i="false" u="none" strike="noStrike" spc="-700">
                <a:solidFill>
                  <a:srgbClr val="787878"/>
                </a:solidFill>
                <a:latin typeface="S-Core Dream 8 Heavy"/>
              </a:rPr>
              <a:t> </a:t>
            </a:r>
            <a:r>
              <a:rPr lang="ko-KR" sz="9000" b="false" i="false" u="none" strike="noStrike" spc="-700">
                <a:solidFill>
                  <a:srgbClr val="787878"/>
                </a:solidFill>
                <a:ea typeface="S-Core Dream 8 Heavy"/>
              </a:rPr>
              <a:t>스피어민트를</a:t>
            </a:r>
            <a:r>
              <a:rPr lang="en-US" sz="9000" b="false" i="false" u="none" strike="noStrike" spc="-700">
                <a:solidFill>
                  <a:srgbClr val="787878"/>
                </a:solidFill>
                <a:latin typeface="S-Core Dream 8 Heavy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9000" b="false" i="false" u="none" strike="noStrike" spc="-700">
                <a:solidFill>
                  <a:srgbClr val="787878"/>
                </a:solidFill>
                <a:ea typeface="S-Core Dream 8 Heavy"/>
              </a:rPr>
              <a:t>구분하는</a:t>
            </a:r>
            <a:r>
              <a:rPr lang="en-US" sz="9000" b="false" i="false" u="none" strike="noStrike" spc="-700">
                <a:solidFill>
                  <a:srgbClr val="787878"/>
                </a:solidFill>
                <a:latin typeface="S-Core Dream 8 Heavy"/>
              </a:rPr>
              <a:t> </a:t>
            </a:r>
            <a:r>
              <a:rPr lang="ko-KR" sz="9000" b="false" i="false" u="none" strike="noStrike" spc="-700">
                <a:solidFill>
                  <a:srgbClr val="787878"/>
                </a:solidFill>
                <a:ea typeface="S-Core Dream 8 Heavy"/>
              </a:rPr>
              <a:t>머신러닝</a:t>
            </a:r>
            <a:r>
              <a:rPr lang="en-US" sz="9000" b="false" i="false" u="none" strike="noStrike" spc="-700">
                <a:solidFill>
                  <a:srgbClr val="787878"/>
                </a:solidFill>
                <a:latin typeface="S-Core Dream 8 Heavy"/>
              </a:rPr>
              <a:t> </a:t>
            </a:r>
            <a:r>
              <a:rPr lang="ko-KR" sz="9000" b="false" i="false" u="none" strike="noStrike" spc="-700">
                <a:solidFill>
                  <a:srgbClr val="787878"/>
                </a:solidFill>
                <a:ea typeface="S-Core Dream 8 Heavy"/>
              </a:rPr>
              <a:t>모델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03100" y="8407400"/>
            <a:ext cx="44069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100" b="true" i="false" u="none" strike="noStrike" spc="-300">
                <a:solidFill>
                  <a:srgbClr val="595959"/>
                </a:solidFill>
                <a:latin typeface="S-Core Dream 4 Regular"/>
              </a:rPr>
              <a:t>2403110285 </a:t>
            </a:r>
            <a:r>
              <a:rPr lang="ko-KR" sz="3100" b="true" i="false" u="none" strike="noStrike" spc="-300">
                <a:solidFill>
                  <a:srgbClr val="595959"/>
                </a:solidFill>
                <a:ea typeface="S-Core Dream 4 Regular"/>
              </a:rPr>
              <a:t>조시현</a:t>
            </a:r>
            <a:r>
              <a:rPr lang="en-US" sz="3100" b="true" i="false" u="none" strike="noStrike" spc="-300">
                <a:solidFill>
                  <a:srgbClr val="595959"/>
                </a:solidFill>
                <a:latin typeface="S-Core Dream 4 Regular"/>
              </a:rPr>
              <a:t>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604000" y="7048500"/>
            <a:ext cx="50673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14300" y="5092700"/>
            <a:ext cx="3492500" cy="323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2700" y="5194300"/>
            <a:ext cx="3492500" cy="323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84100" y="5397500"/>
            <a:ext cx="4533900" cy="3263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454900" y="7150100"/>
            <a:ext cx="3416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100" b="false" i="false" u="none" strike="noStrike" spc="-300">
                <a:solidFill>
                  <a:srgbClr val="000000"/>
                </a:solidFill>
                <a:latin typeface="S-Core Dream 7 ExtraBold"/>
              </a:rPr>
              <a:t>2025.05.12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62000" y="2489200"/>
            <a:ext cx="16764000" cy="1130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2839"/>
              </a:lnSpc>
            </a:pPr>
            <a:r>
              <a:rPr lang="ko-KR" sz="6400" b="false" i="false" u="none" strike="noStrike" spc="-900">
                <a:solidFill>
                  <a:srgbClr val="000000"/>
                </a:solidFill>
                <a:ea typeface="Cafe24 Ohsquare air"/>
              </a:rPr>
              <a:t>목차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800" y="4622800"/>
            <a:ext cx="1257300" cy="80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2839"/>
              </a:lnSpc>
            </a:pPr>
            <a:r>
              <a:rPr lang="en-US" sz="4500" b="false" i="false" u="none" strike="noStrike" spc="-100">
                <a:solidFill>
                  <a:srgbClr val="BCE3CE">
                    <a:alpha val="70196"/>
                  </a:srgbClr>
                </a:solidFill>
                <a:latin typeface="S-Core Dream 9 Black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8600" y="5499100"/>
            <a:ext cx="3416300" cy="800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Cafe24 Ohsquare air"/>
              </a:rPr>
              <a:t>데이터셋</a:t>
            </a:r>
            <a:r>
              <a:rPr lang="en-US" sz="4500" b="false" i="false" u="none" strike="noStrike">
                <a:solidFill>
                  <a:srgbClr val="000000"/>
                </a:solidFill>
                <a:latin typeface="Cafe24 Ohsquare air"/>
              </a:rPr>
              <a:t> </a:t>
            </a:r>
            <a:r>
              <a:rPr lang="ko-KR" sz="4500" b="false" i="false" u="none" strike="noStrike">
                <a:solidFill>
                  <a:srgbClr val="000000"/>
                </a:solidFill>
                <a:ea typeface="Cafe24 Ohsquare air"/>
              </a:rPr>
              <a:t>구성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9100" y="4622800"/>
            <a:ext cx="1257300" cy="80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2839"/>
              </a:lnSpc>
            </a:pPr>
            <a:r>
              <a:rPr lang="en-US" sz="4500" b="false" i="false" u="none" strike="noStrike" spc="-100">
                <a:solidFill>
                  <a:srgbClr val="BCE3CE">
                    <a:alpha val="70196"/>
                  </a:srgbClr>
                </a:solidFill>
                <a:latin typeface="S-Core Dream 9 Black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9100" y="5499100"/>
            <a:ext cx="2311400" cy="800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Cafe24 Ohsquare air"/>
              </a:rPr>
              <a:t>시행</a:t>
            </a:r>
            <a:r>
              <a:rPr lang="en-US" sz="4500" b="false" i="false" u="none" strike="noStrike">
                <a:solidFill>
                  <a:srgbClr val="000000"/>
                </a:solidFill>
                <a:latin typeface="Cafe24 Ohsquare air"/>
              </a:rPr>
              <a:t> </a:t>
            </a:r>
            <a:r>
              <a:rPr lang="ko-KR" sz="4500" b="false" i="false" u="none" strike="noStrike">
                <a:solidFill>
                  <a:srgbClr val="000000"/>
                </a:solidFill>
                <a:ea typeface="Cafe24 Ohsquare air"/>
              </a:rPr>
              <a:t>착오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8200" y="4749800"/>
            <a:ext cx="1257300" cy="80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2839"/>
              </a:lnSpc>
            </a:pPr>
            <a:r>
              <a:rPr lang="en-US" sz="4500" b="false" i="false" u="none" strike="noStrike" spc="-100">
                <a:solidFill>
                  <a:srgbClr val="BCE3CE">
                    <a:alpha val="70196"/>
                  </a:srgbClr>
                </a:solidFill>
                <a:latin typeface="S-Core Dream 9 Black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1700" y="5473700"/>
            <a:ext cx="2349500" cy="800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데이터셋</a:t>
            </a:r>
            <a:r>
              <a:rPr lang="en-US" sz="3900" b="false" i="false" u="none" strike="noStrike" spc="-100">
                <a:solidFill>
                  <a:srgbClr val="000000"/>
                </a:solidFill>
                <a:latin typeface="Cafe24 Ohsquare air"/>
              </a:rPr>
              <a:t> </a:t>
            </a: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구성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5000" y="3276600"/>
            <a:ext cx="67310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09100" y="3314700"/>
            <a:ext cx="7073900" cy="365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05000" y="2844800"/>
            <a:ext cx="4241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S-Core Dream 5 Medium"/>
              </a:rPr>
              <a:t>애플민트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5 Medium"/>
              </a:rPr>
              <a:t> VS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5 Medium"/>
              </a:rPr>
              <a:t>스피어민트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5000" y="7378700"/>
            <a:ext cx="129159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애플민트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(Apple Mint)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스피어민트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(Spearmint)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 </a:t>
            </a:r>
          </a:p>
          <a:p>
            <a:pPr algn="l" lvl="0">
              <a:lnSpc>
                <a:spcPct val="139440"/>
              </a:lnSpc>
            </a:pP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대표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잎을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각각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한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장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선정하여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고해상도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이미지로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수집했습니다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. </a:t>
            </a:r>
          </a:p>
          <a:p>
            <a:pPr algn="l" lvl="0">
              <a:lnSpc>
                <a:spcPct val="13944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데이터셋</a:t>
            </a:r>
            <a:r>
              <a:rPr lang="en-US" sz="3900" b="false" i="false" u="none" strike="noStrike" spc="-100">
                <a:solidFill>
                  <a:srgbClr val="000000"/>
                </a:solidFill>
                <a:latin typeface="Cafe24 Ohsquare air"/>
              </a:rPr>
              <a:t> </a:t>
            </a: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구성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3479800"/>
            <a:ext cx="13652500" cy="405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84400" y="7658100"/>
            <a:ext cx="12915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식물이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더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이상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생장을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이어가지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못해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,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집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근처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허브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농장을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방문해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데이터셋을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확보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시행착오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5000" y="3314700"/>
            <a:ext cx="67310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09100" y="3314700"/>
            <a:ext cx="7073900" cy="365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05000" y="2844800"/>
            <a:ext cx="4241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S-Core Dream 5 Medium"/>
              </a:rPr>
              <a:t>애플민트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5 Medium"/>
              </a:rPr>
              <a:t> VS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5 Medium"/>
              </a:rPr>
              <a:t>스피어민트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5000" y="7378700"/>
            <a:ext cx="129159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/>
            </a:r>
          </a:p>
          <a:p>
            <a:pPr algn="l" lvl="0">
              <a:lnSpc>
                <a:spcPct val="13944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이후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모든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잎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사진을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실내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인공조명과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자연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채광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(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창가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햇빛</a:t>
            </a:r>
            <a:r>
              <a:rPr lang="en-US" sz="2200" b="true" i="false" u="sng" strike="noStrike" spc="-100">
                <a:solidFill>
                  <a:srgbClr val="000000"/>
                </a:solidFill>
                <a:latin typeface="S-Core Dream 4 Regular"/>
              </a:rPr>
              <a:t>) </a:t>
            </a:r>
            <a:r>
              <a:rPr lang="ko-KR" sz="2200" b="true" i="false" u="sng" strike="noStrike" spc="-100">
                <a:solidFill>
                  <a:srgbClr val="000000"/>
                </a:solidFill>
                <a:ea typeface="S-Core Dream 4 Regular"/>
              </a:rPr>
              <a:t>환경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에서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촬영하여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,</a:t>
            </a:r>
          </a:p>
          <a:p>
            <a:pPr algn="l" lvl="0">
              <a:lnSpc>
                <a:spcPct val="13944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 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조명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조건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변화에도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견고한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분류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성능을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보장하는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데이터셋을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S-Core Dream 4 Regular"/>
              </a:rPr>
              <a:t>구성했습니다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시행착오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5000" y="3505200"/>
            <a:ext cx="55118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74100" y="3314700"/>
            <a:ext cx="3873500" cy="3657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687300" y="3937000"/>
            <a:ext cx="3873500" cy="3213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05000" y="2844800"/>
            <a:ext cx="4241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ko-KR" sz="2200" b="false" i="false" u="none" strike="noStrike" spc="-100">
                <a:solidFill>
                  <a:srgbClr val="D94925"/>
                </a:solidFill>
                <a:ea typeface="S-Core Dream 5 Medium"/>
              </a:rPr>
              <a:t>학습률이</a:t>
            </a:r>
            <a:r>
              <a:rPr lang="en-US" sz="2200" b="false" i="false" u="none" strike="noStrike" spc="-100">
                <a:solidFill>
                  <a:srgbClr val="D94925"/>
                </a:solidFill>
                <a:latin typeface="S-Core Dream 5 Medium"/>
              </a:rPr>
              <a:t> 100%?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000" y="7378700"/>
            <a:ext cx="129159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SVM,Logistic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모델로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머신러닝을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만들고자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하였으나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,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학습률이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100%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인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과적합이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나와서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</a:p>
          <a:p>
            <a:pPr algn="l" lvl="0">
              <a:lnSpc>
                <a:spcPct val="139440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감마값을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0.001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로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조정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, PCA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를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활용하여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차원을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축소</a:t>
            </a:r>
          </a:p>
          <a:p>
            <a:pPr algn="l" lvl="0">
              <a:lnSpc>
                <a:spcPct val="13944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시행착오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49600" y="3035300"/>
            <a:ext cx="3873500" cy="365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56600" y="3721100"/>
            <a:ext cx="3873500" cy="3213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81200" y="2832100"/>
            <a:ext cx="4241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2200" b="false" i="false" u="none" strike="noStrike" spc="-100">
                <a:solidFill>
                  <a:srgbClr val="D94925"/>
                </a:solidFill>
                <a:latin typeface="S-Core Dream 5 Medium"/>
              </a:rPr>
              <a:t>SVM vs Logistic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5000" y="7378700"/>
            <a:ext cx="129159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svm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과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Logistic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의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테스트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정확도가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같으므로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  <a:b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</a:b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훈련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정확도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(97.0%)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와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테스트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정확도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(85.4%)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차이가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(13.4%)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보다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작아서</a:t>
            </a:r>
          </a:p>
          <a:p>
            <a:pPr algn="l" lvl="0">
              <a:lnSpc>
                <a:spcPct val="139440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과적합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위험이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약간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더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적은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  logistic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을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머신러닝에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사용할</a:t>
            </a:r>
            <a:r>
              <a:rPr lang="en-US" sz="22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S-Core Dream 4 Regular"/>
              </a:rPr>
              <a:t>예정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11600" y="1905000"/>
            <a:ext cx="11836400" cy="5588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8000" y="7937500"/>
            <a:ext cx="48768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import os -&gt;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파일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및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디렉터리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경로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import cv2-&gt;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이미지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읽기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처리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import numpy as np -&gt;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수치연산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70900" y="7505700"/>
            <a:ext cx="76835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ienumerate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리스트를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순회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apple=0 speaer=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1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os.path.join ‘dataset/apple’, ‘dataset/speaer’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경로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생성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for fname in os.listdir(folder):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폴더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모든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파일명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순회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.lower().endswith('.jpg')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아니면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건너뜀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87800" y="1905000"/>
            <a:ext cx="11836400" cy="5588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7800" y="7721600"/>
            <a:ext cx="113411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cv2.IMREAD_GRAYSCALE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읽으면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3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채널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(RGB)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아닌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1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채널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(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흑백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) 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배열</a:t>
            </a:r>
          </a:p>
          <a:p>
            <a:pPr algn="l" lvl="0">
              <a:lnSpc>
                <a:spcPct val="13944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색정보를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통해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있음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Cv2(64 x64)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resize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2D-&gt; 1D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되게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하기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위해서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4096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백터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변환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X[i]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와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y[i]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가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짝을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이루어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,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모델이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이런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입력엔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레이블을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학습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54400" y="1905000"/>
            <a:ext cx="12725400" cy="5321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7800" y="7721600"/>
            <a:ext cx="113411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전체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데이터를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80%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학습용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/ 20%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검증용으로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무작위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분리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 Ctratify=y → 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클래스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비율이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학습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·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테스트에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동일</a:t>
            </a:r>
            <a:b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</a:b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모르는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데이터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”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훈련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배운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기준으로만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판단하게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할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있게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할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있음</a:t>
            </a:r>
          </a:p>
          <a:p>
            <a:pPr algn="l" lvl="0">
              <a:lnSpc>
                <a:spcPct val="13944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만약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테스트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데이터로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평균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·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표준편차를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다시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계산해버리면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,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모델이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미리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테스트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분포를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알고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있는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셈이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돼서</a:t>
            </a:r>
          </a:p>
          <a:p>
            <a:pPr algn="l" lvl="0">
              <a:lnSpc>
                <a:spcPct val="13944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ㅅ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transform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만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사용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86200" y="1714500"/>
            <a:ext cx="11391900" cy="511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03700" y="6921500"/>
            <a:ext cx="11341100" cy="223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accuracy_score: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정답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대비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맞춘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비율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(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정확도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)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계산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/confusion_matrix: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클래스별로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예측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결과를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요약한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2×2(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또는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n×n)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행렬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생성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models = {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   'SVM':      SVC(kernel='linear', C=0.001),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   'Logistic': LogisticRegression(max_iter=500, C=0.001)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} 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딕셔너리로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키값을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넣을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있다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86200" y="1714500"/>
            <a:ext cx="11391900" cy="511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1930400"/>
            <a:ext cx="14579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3900" b="false" i="false" u="none" strike="noStrike" spc="-100">
                <a:solidFill>
                  <a:srgbClr val="000000"/>
                </a:solidFill>
                <a:ea typeface="Cafe24 Ohsquare air"/>
              </a:rPr>
              <a:t>코드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6200" y="7327900"/>
            <a:ext cx="54102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혼동행렬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 y_test: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실제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레이블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, y_pred: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모델이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예측한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4 Regular"/>
              </a:rPr>
              <a:t>레이블</a:t>
            </a:r>
          </a:p>
          <a:p>
            <a:pPr algn="l" lvl="0">
              <a:lnSpc>
                <a:spcPct val="13944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4 Regular"/>
              </a:rPr>
              <a:t>cm = confusion_matrix(y_test, y_pred)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051300" y="2730500"/>
            <a:ext cx="9423400" cy="501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200" b="false" i="false" u="none" strike="noStrike">
                <a:solidFill>
                  <a:srgbClr val="000000"/>
                </a:solidFill>
                <a:latin typeface="210 GGotmangul Reg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